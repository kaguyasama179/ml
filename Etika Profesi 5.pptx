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301" r:id="rId4"/>
    <p:sldId id="275" r:id="rId5"/>
    <p:sldId id="302" r:id="rId6"/>
    <p:sldId id="294" r:id="rId7"/>
    <p:sldId id="303" r:id="rId8"/>
    <p:sldId id="304" r:id="rId9"/>
    <p:sldId id="300" r:id="rId10"/>
    <p:sldId id="305" r:id="rId11"/>
    <p:sldId id="306" r:id="rId12"/>
    <p:sldId id="307" r:id="rId13"/>
    <p:sldId id="308" r:id="rId14"/>
    <p:sldId id="309" r:id="rId15"/>
    <p:sldId id="310" r:id="rId16"/>
    <p:sldId id="311"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6"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49" d="100"/>
          <a:sy n="49" d="100"/>
        </p:scale>
        <p:origin x="7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85B4E-15A2-40A3-B2DF-D1ABDBE0D1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C46C317F-DCCF-4FA1-9871-C017459A2A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3515964A-1DF7-4F54-AB71-465B3C588F8F}"/>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016AC456-3B68-4B5D-BCEA-E1DED4B8A1D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35007F5-57A2-48B9-A9F2-3F21895DA48B}"/>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452325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B441B-D370-46D7-8795-A4B2A4653AC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EA975340-57AA-4C11-A1A2-1668CC6535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9692AE0-8536-4102-8123-D84BABE3332C}"/>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3F866883-8D74-43B7-BBA5-138836AF361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D249A3B-F9A5-4629-810B-15FEDBC0BC56}"/>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2943590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CAF5A-0A2D-46DF-A419-377A69350A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FDF23582-BF05-4F98-AF07-8A5BD36AF9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693D3E-B6F0-4D6B-B3F5-5E732E8C74AC}"/>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9607416C-AFB5-42BF-A2D6-2FA29E2990D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4BFEE40-3FD9-414C-857B-3FA90D8FBBBD}"/>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3398459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5B264-E2B7-48CF-844D-93A7293FEED1}"/>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5028DD5D-9489-4B51-92A7-CCD43F14CD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BFCB2197-3DB1-4DE5-B496-8DA2CFFB62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725A64F4-E431-4D25-B1ED-8CB788BFDB0F}"/>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6" name="Footer Placeholder 5">
            <a:extLst>
              <a:ext uri="{FF2B5EF4-FFF2-40B4-BE49-F238E27FC236}">
                <a16:creationId xmlns:a16="http://schemas.microsoft.com/office/drawing/2014/main" id="{9CD4E40D-D749-4EEC-AF52-7897DC8170B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203ADFA-205F-4661-8AED-BCC83AA371CB}"/>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31761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2419E-2363-45D4-A376-428B8C91BD6E}"/>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8E009014-CC26-4237-96A1-AA0E508C3F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C43F30-FBA8-475E-899D-CC8467B08A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D4D5EBF-96E2-4D2C-96A0-0A027BCF5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9052CB-12BB-42E4-B5A1-C0A33BC12C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BB04F1C6-4CB6-4593-A96C-3869A10DB532}"/>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8" name="Footer Placeholder 7">
            <a:extLst>
              <a:ext uri="{FF2B5EF4-FFF2-40B4-BE49-F238E27FC236}">
                <a16:creationId xmlns:a16="http://schemas.microsoft.com/office/drawing/2014/main" id="{0F7CC892-EC71-4BE0-841C-C38C64B68759}"/>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794A756C-A847-4CF5-BC8F-CA2A8E3CDE62}"/>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3383274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F1839-F6A9-41B0-9413-08F7CFF02609}"/>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7C6046B6-7C2B-4100-820B-DC1D0479AA01}"/>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4" name="Footer Placeholder 3">
            <a:extLst>
              <a:ext uri="{FF2B5EF4-FFF2-40B4-BE49-F238E27FC236}">
                <a16:creationId xmlns:a16="http://schemas.microsoft.com/office/drawing/2014/main" id="{92FCBC82-8975-4BDD-B1CD-DBA45B1BDBE8}"/>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1FEE3037-850E-4D07-AE33-5318AD00088E}"/>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260736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174650-C49B-413E-A682-D757C57A01AE}"/>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3" name="Footer Placeholder 2">
            <a:extLst>
              <a:ext uri="{FF2B5EF4-FFF2-40B4-BE49-F238E27FC236}">
                <a16:creationId xmlns:a16="http://schemas.microsoft.com/office/drawing/2014/main" id="{2CEB8F4D-F08D-4A84-A940-FC606B271010}"/>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539FCB52-930E-49AC-9F33-7FC36DF2DAAC}"/>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195523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B283-66F2-4B8A-9BFB-B67C3E4FD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A2D7AD53-F08E-453E-AD9B-199FD7FBEE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3D9533B4-DD54-41F2-9ADF-7B7F7B6BE2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5DAD25-439F-40E8-A6E2-37C731CE2606}"/>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6" name="Footer Placeholder 5">
            <a:extLst>
              <a:ext uri="{FF2B5EF4-FFF2-40B4-BE49-F238E27FC236}">
                <a16:creationId xmlns:a16="http://schemas.microsoft.com/office/drawing/2014/main" id="{C57A6CFA-5D01-485E-AD80-7234BA235A5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22BCA04-AAB8-4489-8817-A7C5C3B41DC2}"/>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7720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7F36-8573-4227-8F9A-375A666194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A1688D0B-8FB0-4126-8C19-37EC8DD198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FA4C3263-8043-4B36-8839-36887F1C0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8B434-5600-48A0-BAE1-F5E1EC547B51}"/>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6" name="Footer Placeholder 5">
            <a:extLst>
              <a:ext uri="{FF2B5EF4-FFF2-40B4-BE49-F238E27FC236}">
                <a16:creationId xmlns:a16="http://schemas.microsoft.com/office/drawing/2014/main" id="{392D03A4-391B-40F0-8001-ED75DEBD278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70829B4B-630F-4183-9005-B58BE86A6C00}"/>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263315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1BBD3-BA35-42DB-BAEB-290B03D807B1}"/>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9FFFF8A-64D6-4E94-9591-BE6456B305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9C289D6-683E-4BE5-B5B0-498579C94B7C}"/>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04F279FE-79CC-41C9-A8C8-16E714058C3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F13AF6E-CAD5-45F2-B816-E34246B8CE13}"/>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284488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5CE6B-26B0-4597-B41B-98B0A40107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07C6166-CB33-44AC-9709-27654327B0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E3D4DC3-F6BA-45C0-BA04-9C7A8C48E58B}"/>
              </a:ext>
            </a:extLst>
          </p:cNvPr>
          <p:cNvSpPr>
            <a:spLocks noGrp="1"/>
          </p:cNvSpPr>
          <p:nvPr>
            <p:ph type="dt" sz="half" idx="10"/>
          </p:nvPr>
        </p:nvSpPr>
        <p:spPr/>
        <p:txBody>
          <a:body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831AABF3-04F5-435E-8D28-992BE64EE2D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2868C0C-71B7-48D8-B6F7-F1C98709B25F}"/>
              </a:ext>
            </a:extLst>
          </p:cNvPr>
          <p:cNvSpPr>
            <a:spLocks noGrp="1"/>
          </p:cNvSpPr>
          <p:nvPr>
            <p:ph type="sldNum" sz="quarter" idx="12"/>
          </p:nvPr>
        </p:nvSpPr>
        <p:spPr/>
        <p:txBody>
          <a:bodyPr/>
          <a:lstStyle/>
          <a:p>
            <a:fld id="{D4A238BD-3BCF-47B6-A77F-9393FBAEF096}" type="slidenum">
              <a:rPr lang="en-ID" smtClean="0"/>
              <a:t>‹#›</a:t>
            </a:fld>
            <a:endParaRPr lang="en-ID"/>
          </a:p>
        </p:txBody>
      </p:sp>
    </p:spTree>
    <p:extLst>
      <p:ext uri="{BB962C8B-B14F-4D97-AF65-F5344CB8AC3E}">
        <p14:creationId xmlns:p14="http://schemas.microsoft.com/office/powerpoint/2010/main" val="3965658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345BA9-E0E9-45DC-9933-E7710AED7F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7D6D1E7C-EDFC-4A61-AE64-92197696C0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6BD3213-9FEC-4751-A894-C6214B5671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E3114C-F713-4832-ADBB-EB3C3D476E2A}" type="datetimeFigureOut">
              <a:rPr lang="en-ID" smtClean="0"/>
              <a:t>20/10/2025</a:t>
            </a:fld>
            <a:endParaRPr lang="en-ID"/>
          </a:p>
        </p:txBody>
      </p:sp>
      <p:sp>
        <p:nvSpPr>
          <p:cNvPr id="5" name="Footer Placeholder 4">
            <a:extLst>
              <a:ext uri="{FF2B5EF4-FFF2-40B4-BE49-F238E27FC236}">
                <a16:creationId xmlns:a16="http://schemas.microsoft.com/office/drawing/2014/main" id="{E66CE241-0012-4210-BFC0-8EC4BB0555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B242ACE9-D6A9-4CEF-B44D-23D165E6D2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238BD-3BCF-47B6-A77F-9393FBAEF096}" type="slidenum">
              <a:rPr lang="en-ID" smtClean="0"/>
              <a:t>‹#›</a:t>
            </a:fld>
            <a:endParaRPr lang="en-ID"/>
          </a:p>
        </p:txBody>
      </p:sp>
    </p:spTree>
    <p:extLst>
      <p:ext uri="{BB962C8B-B14F-4D97-AF65-F5344CB8AC3E}">
        <p14:creationId xmlns:p14="http://schemas.microsoft.com/office/powerpoint/2010/main" val="1350052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5F14A-4FD5-4751-89E9-D379993D37D4}"/>
              </a:ext>
            </a:extLst>
          </p:cNvPr>
          <p:cNvSpPr>
            <a:spLocks noGrp="1"/>
          </p:cNvSpPr>
          <p:nvPr>
            <p:ph type="ctrTitle"/>
          </p:nvPr>
        </p:nvSpPr>
        <p:spPr/>
        <p:txBody>
          <a:bodyPr>
            <a:normAutofit/>
          </a:bodyPr>
          <a:lstStyle/>
          <a:p>
            <a:r>
              <a:rPr lang="en-US" sz="8000" b="1" dirty="0"/>
              <a:t>KEBIJAKAN HUKUM CYBERCRIME</a:t>
            </a:r>
            <a:endParaRPr lang="en-ID" sz="8000" b="1" dirty="0"/>
          </a:p>
        </p:txBody>
      </p:sp>
      <p:sp>
        <p:nvSpPr>
          <p:cNvPr id="3" name="Subtitle 2">
            <a:extLst>
              <a:ext uri="{FF2B5EF4-FFF2-40B4-BE49-F238E27FC236}">
                <a16:creationId xmlns:a16="http://schemas.microsoft.com/office/drawing/2014/main" id="{A86F1A36-4682-4CC5-BE00-6080D7EC0F75}"/>
              </a:ext>
            </a:extLst>
          </p:cNvPr>
          <p:cNvSpPr>
            <a:spLocks noGrp="1"/>
          </p:cNvSpPr>
          <p:nvPr>
            <p:ph type="subTitle" idx="1"/>
          </p:nvPr>
        </p:nvSpPr>
        <p:spPr/>
        <p:txBody>
          <a:bodyPr/>
          <a:lstStyle/>
          <a:p>
            <a:endParaRPr lang="en-US" dirty="0"/>
          </a:p>
          <a:p>
            <a:endParaRPr lang="en-US" dirty="0"/>
          </a:p>
          <a:p>
            <a:r>
              <a:rPr lang="en-US" sz="3200" b="1" dirty="0" err="1"/>
              <a:t>Eka</a:t>
            </a:r>
            <a:r>
              <a:rPr lang="en-US" sz="3200" b="1" dirty="0"/>
              <a:t> </a:t>
            </a:r>
            <a:r>
              <a:rPr lang="en-US" sz="3200" b="1" dirty="0" err="1"/>
              <a:t>Gustinasari</a:t>
            </a:r>
            <a:r>
              <a:rPr lang="en-US" sz="3200" b="1" dirty="0"/>
              <a:t> </a:t>
            </a:r>
            <a:r>
              <a:rPr lang="en-US" sz="3200" b="1" dirty="0" err="1"/>
              <a:t>S.Sos</a:t>
            </a:r>
            <a:r>
              <a:rPr lang="en-US" sz="3200" b="1" dirty="0"/>
              <a:t>., </a:t>
            </a:r>
            <a:r>
              <a:rPr lang="en-US" sz="3200" b="1" dirty="0" err="1"/>
              <a:t>M.Si</a:t>
            </a:r>
            <a:endParaRPr lang="en-ID" sz="3200" b="1" dirty="0"/>
          </a:p>
        </p:txBody>
      </p:sp>
    </p:spTree>
    <p:extLst>
      <p:ext uri="{BB962C8B-B14F-4D97-AF65-F5344CB8AC3E}">
        <p14:creationId xmlns:p14="http://schemas.microsoft.com/office/powerpoint/2010/main" val="254209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4A659B-DA0E-4B48-920A-66E1985E4701}"/>
              </a:ext>
            </a:extLst>
          </p:cNvPr>
          <p:cNvSpPr>
            <a:spLocks noGrp="1"/>
          </p:cNvSpPr>
          <p:nvPr>
            <p:ph type="title"/>
          </p:nvPr>
        </p:nvSpPr>
        <p:spPr/>
        <p:txBody>
          <a:bodyPr>
            <a:normAutofit fontScale="90000"/>
          </a:bodyPr>
          <a:lstStyle/>
          <a:p>
            <a:pPr algn="ctr"/>
            <a:br>
              <a:rPr lang="en-GB" sz="3200" b="1" dirty="0"/>
            </a:br>
            <a:br>
              <a:rPr lang="en-ID" sz="3200" b="1" dirty="0"/>
            </a:br>
            <a:r>
              <a:rPr lang="en-ID" sz="6700" b="1" dirty="0"/>
              <a:t>Cyberlaw</a:t>
            </a:r>
            <a:endParaRPr lang="en-ID" sz="6700" dirty="0"/>
          </a:p>
        </p:txBody>
      </p:sp>
      <p:sp>
        <p:nvSpPr>
          <p:cNvPr id="2" name="Content Placeholder 1">
            <a:extLst>
              <a:ext uri="{FF2B5EF4-FFF2-40B4-BE49-F238E27FC236}">
                <a16:creationId xmlns:a16="http://schemas.microsoft.com/office/drawing/2014/main" id="{943DFA22-A9F4-4F16-B2DF-79D4C3F5E1DC}"/>
              </a:ext>
            </a:extLst>
          </p:cNvPr>
          <p:cNvSpPr>
            <a:spLocks noGrp="1"/>
          </p:cNvSpPr>
          <p:nvPr>
            <p:ph idx="1"/>
          </p:nvPr>
        </p:nvSpPr>
        <p:spPr/>
        <p:txBody>
          <a:bodyPr>
            <a:normAutofit lnSpcReduction="10000"/>
          </a:bodyPr>
          <a:lstStyle/>
          <a:p>
            <a:pPr marL="0" indent="0" algn="just">
              <a:lnSpc>
                <a:spcPct val="150000"/>
              </a:lnSpc>
              <a:buNone/>
            </a:pPr>
            <a:r>
              <a:rPr lang="ms-MY" dirty="0"/>
              <a:t>Hukum pada prinsipnya merupakan pengaturan terhadap sikap tindakan (prilaku) seseorang dan masyarakat dimana akan ada sangsi bagi yang melanggar.</a:t>
            </a:r>
            <a:endParaRPr lang="en-ID" dirty="0"/>
          </a:p>
          <a:p>
            <a:pPr marL="0" indent="0">
              <a:buNone/>
            </a:pPr>
            <a:r>
              <a:rPr lang="ms-MY" dirty="0"/>
              <a:t>Alasan Cyberlaw itu diperlukan menurut Sitompul (2012:39) sebagai berikut</a:t>
            </a:r>
            <a:endParaRPr lang="en-ID" dirty="0"/>
          </a:p>
          <a:p>
            <a:pPr marL="514350" indent="-514350">
              <a:buFont typeface="+mj-lt"/>
              <a:buAutoNum type="arabicPeriod"/>
            </a:pPr>
            <a:r>
              <a:rPr lang="ms-MY" dirty="0"/>
              <a:t>Masyarakat yang ada di dunia virtual ialah masyarakat yang berasal dari dunia nyata yang memiliki nilai dan kepentingan.</a:t>
            </a:r>
            <a:endParaRPr lang="en-ID" dirty="0"/>
          </a:p>
          <a:p>
            <a:pPr marL="514350" indent="-514350">
              <a:buFont typeface="+mj-lt"/>
              <a:buAutoNum type="arabicPeriod"/>
            </a:pPr>
            <a:r>
              <a:rPr lang="ms-MY" dirty="0"/>
              <a:t>Mesikpun terjadi di dunia virtual, transaksi yang dilakukan oleh masyarakat memiliki pengaruh dalam dunia nyata.</a:t>
            </a:r>
            <a:endParaRPr lang="en-ID" dirty="0"/>
          </a:p>
          <a:p>
            <a:pPr marL="514350" indent="-514350">
              <a:buFont typeface="+mj-lt"/>
              <a:buAutoNum type="arabicPeriod"/>
            </a:pPr>
            <a:endParaRPr lang="en-ID" dirty="0"/>
          </a:p>
          <a:p>
            <a:pPr marL="0" indent="0" algn="just">
              <a:lnSpc>
                <a:spcPct val="150000"/>
              </a:lnSpc>
              <a:buNone/>
            </a:pPr>
            <a:endParaRPr lang="en-ID" dirty="0"/>
          </a:p>
        </p:txBody>
      </p:sp>
    </p:spTree>
    <p:extLst>
      <p:ext uri="{BB962C8B-B14F-4D97-AF65-F5344CB8AC3E}">
        <p14:creationId xmlns:p14="http://schemas.microsoft.com/office/powerpoint/2010/main" val="2039964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1AE4B4-0AD2-460E-B21A-C802EBD06C61}"/>
              </a:ext>
            </a:extLst>
          </p:cNvPr>
          <p:cNvSpPr>
            <a:spLocks noGrp="1"/>
          </p:cNvSpPr>
          <p:nvPr>
            <p:ph idx="1"/>
          </p:nvPr>
        </p:nvSpPr>
        <p:spPr/>
        <p:txBody>
          <a:bodyPr/>
          <a:lstStyle/>
          <a:p>
            <a:pPr marL="0" indent="0" algn="just">
              <a:lnSpc>
                <a:spcPct val="150000"/>
              </a:lnSpc>
              <a:buNone/>
            </a:pPr>
            <a:r>
              <a:rPr lang="ms-MY" i="1" dirty="0"/>
              <a:t>Cyberlaw</a:t>
            </a:r>
            <a:r>
              <a:rPr lang="ms-MY" dirty="0"/>
              <a:t> adalah hukum yang digunakan di dunia cyber (dunia maya) yang umumnya diasosiasikan dengan internet.</a:t>
            </a:r>
            <a:endParaRPr lang="en-ID" dirty="0"/>
          </a:p>
          <a:p>
            <a:pPr marL="0" indent="0" algn="just">
              <a:lnSpc>
                <a:spcPct val="150000"/>
              </a:lnSpc>
              <a:buNone/>
            </a:pPr>
            <a:r>
              <a:rPr lang="ms-MY" dirty="0"/>
              <a:t>Cyberlaw merupakan aspek hukum yang ruang lingkupnya meliputi setiap aspek yang berhubungan dengan orang perorangan atau subyek hukum yang menggunakan dan memanfaatkan teknologi internet yang dimulai pada saat mulai online dan memasuki dunia cyber atau maya.</a:t>
            </a:r>
            <a:endParaRPr lang="en-ID" dirty="0"/>
          </a:p>
          <a:p>
            <a:pPr marL="0" indent="0">
              <a:buNone/>
            </a:pPr>
            <a:endParaRPr lang="en-ID" dirty="0"/>
          </a:p>
        </p:txBody>
      </p:sp>
    </p:spTree>
    <p:extLst>
      <p:ext uri="{BB962C8B-B14F-4D97-AF65-F5344CB8AC3E}">
        <p14:creationId xmlns:p14="http://schemas.microsoft.com/office/powerpoint/2010/main" val="2214164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8B3D-678E-4EF4-A3DD-4B07B683B9FC}"/>
              </a:ext>
            </a:extLst>
          </p:cNvPr>
          <p:cNvSpPr>
            <a:spLocks noGrp="1"/>
          </p:cNvSpPr>
          <p:nvPr>
            <p:ph type="title"/>
          </p:nvPr>
        </p:nvSpPr>
        <p:spPr/>
        <p:txBody>
          <a:bodyPr>
            <a:normAutofit fontScale="90000"/>
          </a:bodyPr>
          <a:lstStyle/>
          <a:p>
            <a:pPr algn="ctr"/>
            <a:br>
              <a:rPr lang="en-US" dirty="0"/>
            </a:br>
            <a:r>
              <a:rPr lang="en-US" sz="6000" b="1" dirty="0" err="1"/>
              <a:t>Ruang</a:t>
            </a:r>
            <a:r>
              <a:rPr lang="en-US" sz="6000" b="1" dirty="0"/>
              <a:t> </a:t>
            </a:r>
            <a:r>
              <a:rPr lang="en-US" sz="6000" b="1" dirty="0" err="1"/>
              <a:t>Lingkup</a:t>
            </a:r>
            <a:r>
              <a:rPr lang="en-US" sz="6000" b="1" dirty="0"/>
              <a:t> Cyberlaw</a:t>
            </a:r>
            <a:endParaRPr lang="en-ID" sz="6000" b="1" dirty="0"/>
          </a:p>
        </p:txBody>
      </p:sp>
      <p:sp>
        <p:nvSpPr>
          <p:cNvPr id="3" name="Content Placeholder 2">
            <a:extLst>
              <a:ext uri="{FF2B5EF4-FFF2-40B4-BE49-F238E27FC236}">
                <a16:creationId xmlns:a16="http://schemas.microsoft.com/office/drawing/2014/main" id="{AA1F0B69-820F-4E22-A064-689825EB3F76}"/>
              </a:ext>
            </a:extLst>
          </p:cNvPr>
          <p:cNvSpPr>
            <a:spLocks noGrp="1"/>
          </p:cNvSpPr>
          <p:nvPr>
            <p:ph idx="1"/>
          </p:nvPr>
        </p:nvSpPr>
        <p:spPr/>
        <p:txBody>
          <a:bodyPr>
            <a:normAutofit/>
          </a:bodyPr>
          <a:lstStyle/>
          <a:p>
            <a:pPr marL="0" indent="0" algn="just">
              <a:buNone/>
            </a:pPr>
            <a:r>
              <a:rPr lang="ms-MY" dirty="0"/>
              <a:t>Jonathan Rosenoer dalam Cyber law, the law of internet mengingatkan tentang ruang lingkup dari cyber law diantaranya :</a:t>
            </a:r>
            <a:endParaRPr lang="en-ID" dirty="0"/>
          </a:p>
          <a:p>
            <a:pPr lvl="2"/>
            <a:r>
              <a:rPr lang="ms-MY" dirty="0"/>
              <a:t>Hak Cipta (</a:t>
            </a:r>
            <a:r>
              <a:rPr lang="ms-MY" i="1" dirty="0"/>
              <a:t>Copy</a:t>
            </a:r>
            <a:r>
              <a:rPr lang="ms-MY" dirty="0"/>
              <a:t> </a:t>
            </a:r>
            <a:r>
              <a:rPr lang="ms-MY" i="1" dirty="0"/>
              <a:t>Right</a:t>
            </a:r>
            <a:r>
              <a:rPr lang="ms-MY" dirty="0"/>
              <a:t>)</a:t>
            </a:r>
            <a:endParaRPr lang="en-ID" dirty="0"/>
          </a:p>
          <a:p>
            <a:pPr lvl="2"/>
            <a:r>
              <a:rPr lang="ms-MY" dirty="0"/>
              <a:t>Hak Merk (</a:t>
            </a:r>
            <a:r>
              <a:rPr lang="ms-MY" i="1" dirty="0"/>
              <a:t>Trademark</a:t>
            </a:r>
            <a:r>
              <a:rPr lang="ms-MY" dirty="0"/>
              <a:t>)</a:t>
            </a:r>
            <a:endParaRPr lang="en-ID" dirty="0"/>
          </a:p>
          <a:p>
            <a:pPr lvl="2"/>
            <a:r>
              <a:rPr lang="ms-MY" dirty="0"/>
              <a:t>Pencemaran nama baik (</a:t>
            </a:r>
            <a:r>
              <a:rPr lang="ms-MY" i="1" dirty="0"/>
              <a:t>Defamation</a:t>
            </a:r>
            <a:r>
              <a:rPr lang="ms-MY" dirty="0"/>
              <a:t>)</a:t>
            </a:r>
            <a:endParaRPr lang="en-ID" dirty="0"/>
          </a:p>
          <a:p>
            <a:pPr lvl="2"/>
            <a:r>
              <a:rPr lang="ms-MY" dirty="0"/>
              <a:t>Fitnah, Penistaan, Penghinaan (</a:t>
            </a:r>
            <a:r>
              <a:rPr lang="ms-MY" i="1" dirty="0"/>
              <a:t>Hate</a:t>
            </a:r>
            <a:r>
              <a:rPr lang="ms-MY" dirty="0"/>
              <a:t> </a:t>
            </a:r>
            <a:r>
              <a:rPr lang="ms-MY" i="1" dirty="0"/>
              <a:t>Speech</a:t>
            </a:r>
            <a:r>
              <a:rPr lang="ms-MY" dirty="0"/>
              <a:t>)</a:t>
            </a:r>
            <a:endParaRPr lang="en-ID" dirty="0"/>
          </a:p>
          <a:p>
            <a:pPr lvl="2"/>
            <a:r>
              <a:rPr lang="ms-MY" dirty="0"/>
              <a:t>Serangan terhadap	fasilitas	komputer	(</a:t>
            </a:r>
            <a:r>
              <a:rPr lang="ms-MY" i="1" dirty="0"/>
              <a:t>Hacking,</a:t>
            </a:r>
            <a:r>
              <a:rPr lang="ms-MY" dirty="0"/>
              <a:t> </a:t>
            </a:r>
            <a:r>
              <a:rPr lang="ms-MY" i="1" dirty="0"/>
              <a:t>Viruses,</a:t>
            </a:r>
            <a:r>
              <a:rPr lang="ms-MY" dirty="0"/>
              <a:t>	</a:t>
            </a:r>
            <a:r>
              <a:rPr lang="ms-MY" i="1" dirty="0"/>
              <a:t>Illegal</a:t>
            </a:r>
            <a:r>
              <a:rPr lang="ms-MY" dirty="0"/>
              <a:t> </a:t>
            </a:r>
            <a:r>
              <a:rPr lang="ms-MY" i="1" dirty="0"/>
              <a:t>Access</a:t>
            </a:r>
            <a:r>
              <a:rPr lang="ms-MY" dirty="0"/>
              <a:t>).</a:t>
            </a:r>
          </a:p>
          <a:p>
            <a:pPr lvl="2"/>
            <a:r>
              <a:rPr lang="ms-MY" dirty="0"/>
              <a:t>Pengaturan sumber daya internet seperti IP-Address, domain name</a:t>
            </a:r>
            <a:endParaRPr lang="en-ID" sz="1800" dirty="0"/>
          </a:p>
          <a:p>
            <a:pPr lvl="2"/>
            <a:r>
              <a:rPr lang="ms-MY" dirty="0"/>
              <a:t>Kenyamanan Individu</a:t>
            </a:r>
          </a:p>
          <a:p>
            <a:pPr lvl="2"/>
            <a:r>
              <a:rPr lang="ms-MY" dirty="0"/>
              <a:t>Prinsip Kehati-hatian (</a:t>
            </a:r>
            <a:r>
              <a:rPr lang="ms-MY" i="1" dirty="0"/>
              <a:t>Duty Care</a:t>
            </a:r>
            <a:r>
              <a:rPr lang="ms-MY" dirty="0"/>
              <a:t>)</a:t>
            </a:r>
            <a:endParaRPr lang="en-ID" dirty="0"/>
          </a:p>
          <a:p>
            <a:pPr lvl="2"/>
            <a:endParaRPr lang="en-ID" dirty="0"/>
          </a:p>
          <a:p>
            <a:pPr lvl="2"/>
            <a:endParaRPr lang="en-ID" sz="1800" dirty="0"/>
          </a:p>
          <a:p>
            <a:pPr marL="0" indent="0" algn="just">
              <a:buNone/>
            </a:pPr>
            <a:endParaRPr lang="en-ID" dirty="0"/>
          </a:p>
          <a:p>
            <a:pPr marL="514350" indent="-514350" algn="just">
              <a:buAutoNum type="arabicPeriod"/>
            </a:pPr>
            <a:endParaRPr lang="en-ID" dirty="0"/>
          </a:p>
          <a:p>
            <a:pPr marL="514350" indent="-514350" algn="just">
              <a:buAutoNum type="arabicPeriod"/>
            </a:pPr>
            <a:endParaRPr lang="en-ID" dirty="0"/>
          </a:p>
          <a:p>
            <a:pPr marL="514350" indent="-514350" algn="just">
              <a:buAutoNum type="arabicPeriod"/>
            </a:pPr>
            <a:endParaRPr lang="en-ID" dirty="0"/>
          </a:p>
          <a:p>
            <a:pPr marL="0" indent="0">
              <a:buNone/>
            </a:pPr>
            <a:endParaRPr lang="en-US" sz="2400" dirty="0"/>
          </a:p>
        </p:txBody>
      </p:sp>
    </p:spTree>
    <p:extLst>
      <p:ext uri="{BB962C8B-B14F-4D97-AF65-F5344CB8AC3E}">
        <p14:creationId xmlns:p14="http://schemas.microsoft.com/office/powerpoint/2010/main" val="2192821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F78FA-A82D-4110-A602-2232324CF0AE}"/>
              </a:ext>
            </a:extLst>
          </p:cNvPr>
          <p:cNvSpPr>
            <a:spLocks noGrp="1"/>
          </p:cNvSpPr>
          <p:nvPr>
            <p:ph idx="1"/>
          </p:nvPr>
        </p:nvSpPr>
        <p:spPr/>
        <p:txBody>
          <a:bodyPr>
            <a:normAutofit fontScale="92500"/>
          </a:bodyPr>
          <a:lstStyle/>
          <a:p>
            <a:pPr lvl="2"/>
            <a:r>
              <a:rPr lang="ms-MY" sz="3200" dirty="0"/>
              <a:t>Tindakan kriminal biasa yang menggunakan TI sebagai alat</a:t>
            </a:r>
            <a:endParaRPr lang="en-ID" sz="3200" dirty="0"/>
          </a:p>
          <a:p>
            <a:pPr lvl="2"/>
            <a:r>
              <a:rPr lang="ms-MY" sz="3200" dirty="0"/>
              <a:t>Isu prosedural seperti yuridiksi, pembuktian, penyelidikan dll</a:t>
            </a:r>
            <a:endParaRPr lang="en-ID" sz="3200" dirty="0"/>
          </a:p>
          <a:p>
            <a:pPr lvl="2"/>
            <a:r>
              <a:rPr lang="ms-MY" sz="3200" dirty="0"/>
              <a:t>Kontrak / transaksi elektronik dan tanda tangan digital</a:t>
            </a:r>
            <a:endParaRPr lang="en-ID" sz="3200" dirty="0"/>
          </a:p>
          <a:p>
            <a:pPr lvl="2"/>
            <a:r>
              <a:rPr lang="ms-MY" sz="3200" dirty="0"/>
              <a:t>Pornografi</a:t>
            </a:r>
            <a:endParaRPr lang="en-ID" sz="3200" dirty="0"/>
          </a:p>
          <a:p>
            <a:pPr lvl="2"/>
            <a:r>
              <a:rPr lang="ms-MY" sz="3200" dirty="0"/>
              <a:t>Pencurian melalui Internet</a:t>
            </a:r>
          </a:p>
          <a:p>
            <a:pPr lvl="2"/>
            <a:r>
              <a:rPr lang="ms-MY" sz="3200" dirty="0"/>
              <a:t>Perlindungan Konsumen</a:t>
            </a:r>
            <a:endParaRPr lang="en-ID" sz="3200" dirty="0"/>
          </a:p>
          <a:p>
            <a:pPr lvl="2"/>
            <a:r>
              <a:rPr lang="ms-MY" sz="3200" dirty="0"/>
              <a:t>Pemanfaatan internet	dalam aktivitas	keseharian	seperti e- commerce, e-government, e-education, dll</a:t>
            </a:r>
            <a:endParaRPr lang="en-ID" sz="3200" dirty="0"/>
          </a:p>
          <a:p>
            <a:endParaRPr lang="en-ID" dirty="0"/>
          </a:p>
        </p:txBody>
      </p:sp>
    </p:spTree>
    <p:extLst>
      <p:ext uri="{BB962C8B-B14F-4D97-AF65-F5344CB8AC3E}">
        <p14:creationId xmlns:p14="http://schemas.microsoft.com/office/powerpoint/2010/main" val="207337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4ED3-C603-41ED-B1A4-7D9E5428746F}"/>
              </a:ext>
            </a:extLst>
          </p:cNvPr>
          <p:cNvSpPr>
            <a:spLocks noGrp="1"/>
          </p:cNvSpPr>
          <p:nvPr>
            <p:ph type="title"/>
          </p:nvPr>
        </p:nvSpPr>
        <p:spPr/>
        <p:txBody>
          <a:bodyPr>
            <a:normAutofit fontScale="90000"/>
          </a:bodyPr>
          <a:lstStyle/>
          <a:p>
            <a:pPr algn="ctr"/>
            <a:br>
              <a:rPr lang="en-US" dirty="0"/>
            </a:br>
            <a:r>
              <a:rPr lang="en-US" sz="5400" b="1" dirty="0" err="1"/>
              <a:t>Pengaturan</a:t>
            </a:r>
            <a:r>
              <a:rPr lang="en-US" sz="5400" b="1" dirty="0"/>
              <a:t> Cybercrime </a:t>
            </a:r>
            <a:r>
              <a:rPr lang="en-US" sz="5400" b="1" dirty="0" err="1"/>
              <a:t>dalam</a:t>
            </a:r>
            <a:r>
              <a:rPr lang="en-US" sz="5400" b="1" dirty="0"/>
              <a:t> UU ITE</a:t>
            </a:r>
            <a:endParaRPr lang="en-ID" sz="5400" b="1" dirty="0"/>
          </a:p>
        </p:txBody>
      </p:sp>
      <p:sp>
        <p:nvSpPr>
          <p:cNvPr id="3" name="Content Placeholder 2">
            <a:extLst>
              <a:ext uri="{FF2B5EF4-FFF2-40B4-BE49-F238E27FC236}">
                <a16:creationId xmlns:a16="http://schemas.microsoft.com/office/drawing/2014/main" id="{B56FCC9B-A305-4445-A058-284EB4B63F31}"/>
              </a:ext>
            </a:extLst>
          </p:cNvPr>
          <p:cNvSpPr>
            <a:spLocks noGrp="1"/>
          </p:cNvSpPr>
          <p:nvPr>
            <p:ph idx="1"/>
          </p:nvPr>
        </p:nvSpPr>
        <p:spPr/>
        <p:txBody>
          <a:bodyPr>
            <a:normAutofit fontScale="92500"/>
          </a:bodyPr>
          <a:lstStyle/>
          <a:p>
            <a:pPr marL="0" indent="0">
              <a:buNone/>
            </a:pPr>
            <a:r>
              <a:rPr lang="ms-MY" sz="4000" dirty="0"/>
              <a:t>Latar belakang UU ITE adalah :</a:t>
            </a:r>
          </a:p>
          <a:p>
            <a:pPr marL="0" indent="0" algn="just">
              <a:buNone/>
            </a:pPr>
            <a:r>
              <a:rPr lang="ms-MY" sz="3200" dirty="0"/>
              <a:t>Undang-undang Nomor 11 Tahun 2008 tentang informasi dan Transaksi Elektronik (UU ITE) adalah undang undang pertama di Indonesia yang secara khusus mengatur tindak pidana cyber.</a:t>
            </a:r>
          </a:p>
          <a:p>
            <a:pPr marL="0" indent="0" algn="just">
              <a:buNone/>
            </a:pPr>
            <a:endParaRPr lang="en-ID" sz="3200" dirty="0"/>
          </a:p>
          <a:p>
            <a:pPr marL="0" indent="0" algn="just">
              <a:buNone/>
            </a:pPr>
            <a:r>
              <a:rPr lang="ms-MY" sz="3200" dirty="0"/>
              <a:t>Berdasarkan surat Presiden RI. No.R./70/Pres/9/2005 tanggal 5 September 2005, naskah UU ITE secara resmi disampaikan kepada DPR RI. Pada tanggal 21 April 2008, Undang-undang ini di sahkan.</a:t>
            </a:r>
            <a:endParaRPr lang="en-ID" sz="3200" dirty="0"/>
          </a:p>
          <a:p>
            <a:pPr marL="0" indent="0">
              <a:buNone/>
            </a:pPr>
            <a:endParaRPr lang="en-ID" dirty="0"/>
          </a:p>
        </p:txBody>
      </p:sp>
    </p:spTree>
    <p:extLst>
      <p:ext uri="{BB962C8B-B14F-4D97-AF65-F5344CB8AC3E}">
        <p14:creationId xmlns:p14="http://schemas.microsoft.com/office/powerpoint/2010/main" val="258931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6416-1A53-4E19-9B4D-10FF46D64A14}"/>
              </a:ext>
            </a:extLst>
          </p:cNvPr>
          <p:cNvSpPr>
            <a:spLocks noGrp="1"/>
          </p:cNvSpPr>
          <p:nvPr>
            <p:ph type="title"/>
          </p:nvPr>
        </p:nvSpPr>
        <p:spPr/>
        <p:txBody>
          <a:bodyPr>
            <a:normAutofit fontScale="90000"/>
          </a:bodyPr>
          <a:lstStyle/>
          <a:p>
            <a:pPr algn="ctr"/>
            <a:br>
              <a:rPr lang="ms-MY" sz="3200" b="1" dirty="0"/>
            </a:br>
            <a:br>
              <a:rPr lang="ms-MY" sz="3200" b="1" dirty="0"/>
            </a:br>
            <a:r>
              <a:rPr lang="ms-MY" sz="3200" b="1" dirty="0"/>
              <a:t>Dua muatan besar yang diatur dalam UU ITE adalah </a:t>
            </a:r>
            <a:endParaRPr lang="en-ID" sz="3200" b="1" dirty="0"/>
          </a:p>
        </p:txBody>
      </p:sp>
      <p:sp>
        <p:nvSpPr>
          <p:cNvPr id="3" name="Content Placeholder 2">
            <a:extLst>
              <a:ext uri="{FF2B5EF4-FFF2-40B4-BE49-F238E27FC236}">
                <a16:creationId xmlns:a16="http://schemas.microsoft.com/office/drawing/2014/main" id="{0089A1E4-41BE-4FF3-B51B-6A43CB230D77}"/>
              </a:ext>
            </a:extLst>
          </p:cNvPr>
          <p:cNvSpPr>
            <a:spLocks noGrp="1"/>
          </p:cNvSpPr>
          <p:nvPr>
            <p:ph idx="1"/>
          </p:nvPr>
        </p:nvSpPr>
        <p:spPr/>
        <p:txBody>
          <a:bodyPr>
            <a:normAutofit fontScale="92500" lnSpcReduction="20000"/>
          </a:bodyPr>
          <a:lstStyle/>
          <a:p>
            <a:pPr marL="0" indent="0">
              <a:buNone/>
            </a:pPr>
            <a:r>
              <a:rPr lang="en-US" dirty="0"/>
              <a:t>1. </a:t>
            </a:r>
            <a:r>
              <a:rPr lang="ms-MY" dirty="0"/>
              <a:t>Pengaturan transaksi elektronik</a:t>
            </a:r>
            <a:endParaRPr lang="en-ID" dirty="0"/>
          </a:p>
          <a:p>
            <a:pPr marL="0" indent="0">
              <a:buNone/>
            </a:pPr>
            <a:r>
              <a:rPr lang="en-US" dirty="0"/>
              <a:t>2. </a:t>
            </a:r>
            <a:r>
              <a:rPr lang="ms-MY" dirty="0"/>
              <a:t>Tindak pidana cyber</a:t>
            </a:r>
            <a:endParaRPr lang="en-US" dirty="0"/>
          </a:p>
          <a:p>
            <a:pPr marL="0" indent="0">
              <a:buNone/>
            </a:pPr>
            <a:r>
              <a:rPr lang="ms-MY" dirty="0"/>
              <a:t> </a:t>
            </a:r>
            <a:r>
              <a:rPr lang="ms-MY" b="1" dirty="0"/>
              <a:t>Pengaturan Tindak Pidana TI dan Transaksi Elektronik</a:t>
            </a:r>
            <a:endParaRPr lang="en-ID" b="1" dirty="0"/>
          </a:p>
          <a:p>
            <a:pPr marL="0" indent="0">
              <a:buNone/>
            </a:pPr>
            <a:r>
              <a:rPr lang="ms-MY" dirty="0"/>
              <a:t>Tindak pidana yang diatur dalam UU ITE diatur dalam Bab VII tentang perbuatan yang dilarang, perbuatan tersebut dikategorikan menjadi kelompok sebagai berikut:</a:t>
            </a:r>
            <a:endParaRPr lang="en-ID" dirty="0"/>
          </a:p>
          <a:p>
            <a:pPr marL="0" indent="0">
              <a:buNone/>
            </a:pPr>
            <a:r>
              <a:rPr lang="en-ID" dirty="0"/>
              <a:t>1. </a:t>
            </a:r>
            <a:r>
              <a:rPr lang="ms-MY" dirty="0"/>
              <a:t>Tindak Pidana yang berhubungan dengan aktivitas illegal, yaitu :</a:t>
            </a:r>
            <a:endParaRPr lang="en-ID" dirty="0"/>
          </a:p>
          <a:p>
            <a:pPr marL="0" indent="0">
              <a:buNone/>
            </a:pPr>
            <a:r>
              <a:rPr lang="ms-MY" dirty="0"/>
              <a:t>a.Distribusi atau penyebaran, transmisi, dapat diaksesnya konten ilegal (kesusilaan, perjudian, berita bohong dll)</a:t>
            </a:r>
            <a:endParaRPr lang="en-ID" dirty="0"/>
          </a:p>
          <a:p>
            <a:pPr marL="0" indent="0">
              <a:buNone/>
            </a:pPr>
            <a:r>
              <a:rPr lang="ms-MY" dirty="0"/>
              <a:t>b. Dengan cara apapun melakuka akses illegal</a:t>
            </a:r>
          </a:p>
          <a:p>
            <a:pPr marL="0" indent="0">
              <a:buNone/>
            </a:pPr>
            <a:r>
              <a:rPr lang="ms-MY" dirty="0"/>
              <a:t>c. Intersepsi illegal terhadap informasi atau dokumen elektronik dan sistem elektronik</a:t>
            </a:r>
            <a:endParaRPr lang="en-ID" dirty="0"/>
          </a:p>
          <a:p>
            <a:pPr marL="0" indent="0">
              <a:buNone/>
            </a:pPr>
            <a:endParaRPr lang="en-ID" dirty="0"/>
          </a:p>
          <a:p>
            <a:pPr marL="0" indent="0">
              <a:buNone/>
            </a:pPr>
            <a:endParaRPr lang="en-ID" dirty="0"/>
          </a:p>
        </p:txBody>
      </p:sp>
    </p:spTree>
    <p:extLst>
      <p:ext uri="{BB962C8B-B14F-4D97-AF65-F5344CB8AC3E}">
        <p14:creationId xmlns:p14="http://schemas.microsoft.com/office/powerpoint/2010/main" val="2993764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0E966-6781-440B-BEF9-0C5CB7AFFA95}"/>
              </a:ext>
            </a:extLst>
          </p:cNvPr>
          <p:cNvSpPr>
            <a:spLocks noGrp="1"/>
          </p:cNvSpPr>
          <p:nvPr>
            <p:ph idx="1"/>
          </p:nvPr>
        </p:nvSpPr>
        <p:spPr/>
        <p:txBody>
          <a:bodyPr/>
          <a:lstStyle/>
          <a:p>
            <a:pPr marL="0" indent="0">
              <a:buNone/>
            </a:pPr>
            <a:r>
              <a:rPr lang="en-US" dirty="0"/>
              <a:t>2. </a:t>
            </a:r>
            <a:r>
              <a:rPr lang="ms-MY" dirty="0"/>
              <a:t>Tindak Pidana yang berhubungan dengan gangguan (interfensi), Yaitu:</a:t>
            </a:r>
            <a:endParaRPr lang="en-ID" dirty="0"/>
          </a:p>
          <a:p>
            <a:pPr marL="0" indent="0">
              <a:buNone/>
            </a:pPr>
            <a:r>
              <a:rPr lang="en-ID" dirty="0"/>
              <a:t>a. </a:t>
            </a:r>
            <a:r>
              <a:rPr lang="ms-MY" dirty="0"/>
              <a:t>Gangguan terhadap informasi atau dokumen elektronik</a:t>
            </a:r>
            <a:endParaRPr lang="en-ID" dirty="0"/>
          </a:p>
          <a:p>
            <a:pPr marL="0" indent="0">
              <a:buNone/>
            </a:pPr>
            <a:r>
              <a:rPr lang="en-ID" dirty="0"/>
              <a:t>b. </a:t>
            </a:r>
            <a:r>
              <a:rPr lang="ms-MY" dirty="0"/>
              <a:t>Gangguan terhadap sistem elektronik</a:t>
            </a:r>
            <a:endParaRPr lang="en-ID" dirty="0"/>
          </a:p>
          <a:p>
            <a:pPr marL="0" indent="0">
              <a:buNone/>
            </a:pPr>
            <a:r>
              <a:rPr lang="en-ID" dirty="0"/>
              <a:t>3. </a:t>
            </a:r>
            <a:r>
              <a:rPr lang="ms-MY" dirty="0"/>
              <a:t>Tindak Pidana memfasilitas perbuatan yng dilarang</a:t>
            </a:r>
            <a:endParaRPr lang="en-ID" dirty="0"/>
          </a:p>
          <a:p>
            <a:pPr marL="0" lvl="0" indent="0">
              <a:buNone/>
            </a:pPr>
            <a:r>
              <a:rPr lang="en-ID" dirty="0"/>
              <a:t>4. </a:t>
            </a:r>
            <a:r>
              <a:rPr lang="ms-MY" dirty="0"/>
              <a:t>Tindak Pidana pemalsuan informasi atau dokumen elektronik</a:t>
            </a:r>
            <a:endParaRPr lang="en-ID" dirty="0"/>
          </a:p>
          <a:p>
            <a:pPr marL="0" indent="0">
              <a:buNone/>
            </a:pPr>
            <a:r>
              <a:rPr lang="ms-MY" dirty="0"/>
              <a:t>5.  Tindak Pidana Tambahan dan</a:t>
            </a:r>
            <a:endParaRPr lang="en-ID" dirty="0"/>
          </a:p>
          <a:p>
            <a:pPr marL="0" indent="0">
              <a:buNone/>
            </a:pPr>
            <a:r>
              <a:rPr lang="en-ID" dirty="0"/>
              <a:t>6. </a:t>
            </a:r>
            <a:r>
              <a:rPr lang="ms-MY" dirty="0"/>
              <a:t>Perberatan-perberatan terhadap ancaman pidana</a:t>
            </a:r>
            <a:endParaRPr lang="en-ID" dirty="0"/>
          </a:p>
          <a:p>
            <a:pPr marL="0" indent="0">
              <a:buNone/>
            </a:pPr>
            <a:endParaRPr lang="en-ID" dirty="0"/>
          </a:p>
          <a:p>
            <a:pPr marL="0" indent="0">
              <a:buNone/>
            </a:pPr>
            <a:endParaRPr lang="en-ID" dirty="0"/>
          </a:p>
        </p:txBody>
      </p:sp>
    </p:spTree>
    <p:extLst>
      <p:ext uri="{BB962C8B-B14F-4D97-AF65-F5344CB8AC3E}">
        <p14:creationId xmlns:p14="http://schemas.microsoft.com/office/powerpoint/2010/main" val="248508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7167-C8F9-4330-85AE-DCDC4B4BDFB5}"/>
              </a:ext>
            </a:extLst>
          </p:cNvPr>
          <p:cNvSpPr>
            <a:spLocks noGrp="1"/>
          </p:cNvSpPr>
          <p:nvPr>
            <p:ph type="title"/>
          </p:nvPr>
        </p:nvSpPr>
        <p:spPr/>
        <p:txBody>
          <a:bodyPr/>
          <a:lstStyle/>
          <a:p>
            <a:pPr algn="ctr"/>
            <a:br>
              <a:rPr lang="en-US" b="1" dirty="0"/>
            </a:br>
            <a:r>
              <a:rPr lang="en-US" b="1" dirty="0" err="1"/>
              <a:t>Celah</a:t>
            </a:r>
            <a:r>
              <a:rPr lang="en-US" b="1" dirty="0"/>
              <a:t> </a:t>
            </a:r>
            <a:r>
              <a:rPr lang="en-US" b="1" dirty="0" err="1"/>
              <a:t>Hukum</a:t>
            </a:r>
            <a:r>
              <a:rPr lang="en-US" b="1" dirty="0"/>
              <a:t> Cybercrime</a:t>
            </a:r>
            <a:endParaRPr lang="en-ID" b="1" dirty="0"/>
          </a:p>
        </p:txBody>
      </p:sp>
      <p:sp>
        <p:nvSpPr>
          <p:cNvPr id="3" name="Content Placeholder 2">
            <a:extLst>
              <a:ext uri="{FF2B5EF4-FFF2-40B4-BE49-F238E27FC236}">
                <a16:creationId xmlns:a16="http://schemas.microsoft.com/office/drawing/2014/main" id="{6705865A-1E0F-4E7B-8459-F7C027A4ECB4}"/>
              </a:ext>
            </a:extLst>
          </p:cNvPr>
          <p:cNvSpPr>
            <a:spLocks noGrp="1"/>
          </p:cNvSpPr>
          <p:nvPr>
            <p:ph idx="1"/>
          </p:nvPr>
        </p:nvSpPr>
        <p:spPr/>
        <p:txBody>
          <a:bodyPr>
            <a:normAutofit lnSpcReduction="10000"/>
          </a:bodyPr>
          <a:lstStyle/>
          <a:p>
            <a:pPr marL="0" indent="0">
              <a:buNone/>
            </a:pPr>
            <a:r>
              <a:rPr lang="ms-MY" dirty="0"/>
              <a:t>Pada dasarnya sebuah undang-undang dibuat sebagai jawaban hukum terhadap persoalan yang ada di masyarakat. Namun pada pelaksanaannya tak jarang suatu undang- undang yang sudah terbentuk menemui kenyataan yang mungkin tidak terjangkau saat undang-undang di bentuk.</a:t>
            </a:r>
            <a:endParaRPr lang="en-ID" dirty="0"/>
          </a:p>
          <a:p>
            <a:pPr marL="0" indent="0">
              <a:buNone/>
            </a:pPr>
            <a:r>
              <a:rPr lang="ms-MY" dirty="0"/>
              <a:t>Faktor yang mempengaruhi munculnya kenyataan diatas, yaitu :</a:t>
            </a:r>
            <a:endParaRPr lang="en-ID" dirty="0"/>
          </a:p>
          <a:p>
            <a:pPr marL="0" indent="0">
              <a:buNone/>
            </a:pPr>
            <a:r>
              <a:rPr lang="en-ID" dirty="0"/>
              <a:t>1. </a:t>
            </a:r>
            <a:r>
              <a:rPr lang="ms-MY" dirty="0"/>
              <a:t>Keterbatasan manusia memprediksi secara akurat apa yang terjadi di masa yang akan datang</a:t>
            </a:r>
            <a:endParaRPr lang="en-ID" dirty="0"/>
          </a:p>
          <a:p>
            <a:pPr marL="0" indent="0">
              <a:buNone/>
            </a:pPr>
            <a:r>
              <a:rPr lang="en-ID" dirty="0"/>
              <a:t>2. </a:t>
            </a:r>
            <a:r>
              <a:rPr lang="ms-MY" dirty="0"/>
              <a:t>Kehidupan masyarakat manusia baik sebagai kelompok dan bangsa</a:t>
            </a:r>
          </a:p>
          <a:p>
            <a:pPr marL="0" indent="0">
              <a:buNone/>
            </a:pPr>
            <a:r>
              <a:rPr lang="ms-MY" dirty="0"/>
              <a:t>3. Pada saat undang-undang diundangkan langsung “konservatif.</a:t>
            </a:r>
            <a:endParaRPr lang="en-ID" dirty="0"/>
          </a:p>
          <a:p>
            <a:pPr marL="0" indent="0">
              <a:buNone/>
            </a:pPr>
            <a:endParaRPr lang="en-ID" dirty="0"/>
          </a:p>
          <a:p>
            <a:pPr marL="0" indent="0">
              <a:buNone/>
            </a:pPr>
            <a:endParaRPr lang="en-ID" dirty="0"/>
          </a:p>
          <a:p>
            <a:pPr marL="0" indent="0" algn="just">
              <a:buNone/>
            </a:pPr>
            <a:endParaRPr lang="en-ID" dirty="0"/>
          </a:p>
          <a:p>
            <a:pPr marL="0" indent="0">
              <a:buNone/>
            </a:pPr>
            <a:endParaRPr lang="en-ID" dirty="0"/>
          </a:p>
        </p:txBody>
      </p:sp>
    </p:spTree>
    <p:extLst>
      <p:ext uri="{BB962C8B-B14F-4D97-AF65-F5344CB8AC3E}">
        <p14:creationId xmlns:p14="http://schemas.microsoft.com/office/powerpoint/2010/main" val="4155481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934F0-ACC3-4E9C-B3EC-BABB89932D66}"/>
              </a:ext>
            </a:extLst>
          </p:cNvPr>
          <p:cNvSpPr>
            <a:spLocks noGrp="1"/>
          </p:cNvSpPr>
          <p:nvPr>
            <p:ph type="title"/>
          </p:nvPr>
        </p:nvSpPr>
        <p:spPr/>
        <p:txBody>
          <a:bodyPr>
            <a:normAutofit fontScale="90000"/>
          </a:bodyPr>
          <a:lstStyle/>
          <a:p>
            <a:pPr algn="ctr"/>
            <a:br>
              <a:rPr lang="ms-MY" sz="2800" dirty="0"/>
            </a:br>
            <a:br>
              <a:rPr lang="ms-MY" sz="2800" dirty="0"/>
            </a:br>
            <a:r>
              <a:rPr lang="ms-MY" sz="2800" b="1" dirty="0"/>
              <a:t>Menurut Suhariyanto (2012) celah hokum kriminalisasi cybercrime yang ada dalam UU ITE, diantaranya:</a:t>
            </a:r>
            <a:br>
              <a:rPr lang="en-ID" sz="2800" b="1" dirty="0"/>
            </a:br>
            <a:endParaRPr lang="en-ID" sz="2800" b="1" dirty="0"/>
          </a:p>
        </p:txBody>
      </p:sp>
      <p:sp>
        <p:nvSpPr>
          <p:cNvPr id="3" name="Content Placeholder 2">
            <a:extLst>
              <a:ext uri="{FF2B5EF4-FFF2-40B4-BE49-F238E27FC236}">
                <a16:creationId xmlns:a16="http://schemas.microsoft.com/office/drawing/2014/main" id="{62CA0EF6-CDE0-40BB-A43E-5D2BA4EDE383}"/>
              </a:ext>
            </a:extLst>
          </p:cNvPr>
          <p:cNvSpPr>
            <a:spLocks noGrp="1"/>
          </p:cNvSpPr>
          <p:nvPr>
            <p:ph idx="1"/>
          </p:nvPr>
        </p:nvSpPr>
        <p:spPr/>
        <p:txBody>
          <a:bodyPr>
            <a:normAutofit/>
          </a:bodyPr>
          <a:lstStyle/>
          <a:p>
            <a:pPr marL="514350" lvl="0" indent="-514350">
              <a:buAutoNum type="arabicPeriod"/>
            </a:pPr>
            <a:r>
              <a:rPr lang="ms-MY" sz="3200" dirty="0"/>
              <a:t>Pasal pornografi di internet (cyberporn)</a:t>
            </a:r>
            <a:endParaRPr lang="en-ID" sz="3200" dirty="0"/>
          </a:p>
          <a:p>
            <a:pPr marL="514350" lvl="0" indent="-514350">
              <a:buAutoNum type="arabicPeriod"/>
            </a:pPr>
            <a:r>
              <a:rPr lang="ms-MY" sz="3200" dirty="0"/>
              <a:t>Pasal perjudian di internet (Gambling on line)</a:t>
            </a:r>
            <a:endParaRPr lang="en-ID" sz="3200" dirty="0"/>
          </a:p>
          <a:p>
            <a:pPr marL="514350" lvl="0" indent="-514350">
              <a:buAutoNum type="arabicPeriod"/>
            </a:pPr>
            <a:r>
              <a:rPr lang="ms-MY" sz="3200" dirty="0"/>
              <a:t>Pasal penghinaan dan atau Pencemaran nama baik di    internet</a:t>
            </a:r>
            <a:endParaRPr lang="en-ID" sz="3200" dirty="0"/>
          </a:p>
          <a:p>
            <a:pPr marL="514350" lvl="0" indent="-514350">
              <a:buAutoNum type="arabicPeriod"/>
            </a:pPr>
            <a:r>
              <a:rPr lang="ms-MY" sz="3200" dirty="0"/>
              <a:t>Pasal pemerasan dan atau pengancaman melalui internet</a:t>
            </a:r>
            <a:endParaRPr lang="en-ID" sz="3200" dirty="0"/>
          </a:p>
          <a:p>
            <a:pPr marL="514350" lvl="0" indent="-514350">
              <a:buAutoNum type="arabicPeriod"/>
            </a:pPr>
            <a:r>
              <a:rPr lang="ms-MY" sz="3200" dirty="0"/>
              <a:t>Penyebaran berita bohong dan penghasutan melalui internet.</a:t>
            </a:r>
            <a:endParaRPr lang="en-ID" sz="3200" dirty="0"/>
          </a:p>
          <a:p>
            <a:pPr marL="514350" lvl="0" indent="-514350">
              <a:buAutoNum type="arabicPeriod"/>
            </a:pPr>
            <a:r>
              <a:rPr lang="ms-MY" sz="3200" dirty="0"/>
              <a:t>Profokasi melalui internet</a:t>
            </a:r>
            <a:endParaRPr lang="en-ID" sz="3200" dirty="0"/>
          </a:p>
          <a:p>
            <a:pPr marL="0" indent="0">
              <a:buNone/>
            </a:pPr>
            <a:endParaRPr lang="en-ID" dirty="0"/>
          </a:p>
        </p:txBody>
      </p:sp>
    </p:spTree>
    <p:extLst>
      <p:ext uri="{BB962C8B-B14F-4D97-AF65-F5344CB8AC3E}">
        <p14:creationId xmlns:p14="http://schemas.microsoft.com/office/powerpoint/2010/main" val="1298231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93C7-073A-4897-98BC-CD2B5E701D2D}"/>
              </a:ext>
            </a:extLst>
          </p:cNvPr>
          <p:cNvSpPr>
            <a:spLocks noGrp="1"/>
          </p:cNvSpPr>
          <p:nvPr>
            <p:ph type="title"/>
          </p:nvPr>
        </p:nvSpPr>
        <p:spPr/>
        <p:txBody>
          <a:bodyPr/>
          <a:lstStyle/>
          <a:p>
            <a:pPr algn="ctr"/>
            <a:br>
              <a:rPr lang="ms-MY" dirty="0"/>
            </a:br>
            <a:r>
              <a:rPr lang="ms-MY" dirty="0"/>
              <a:t>Pasal pornografi di internet (cyberporn</a:t>
            </a:r>
            <a:endParaRPr lang="en-ID" dirty="0"/>
          </a:p>
        </p:txBody>
      </p:sp>
      <p:sp>
        <p:nvSpPr>
          <p:cNvPr id="3" name="Content Placeholder 2">
            <a:extLst>
              <a:ext uri="{FF2B5EF4-FFF2-40B4-BE49-F238E27FC236}">
                <a16:creationId xmlns:a16="http://schemas.microsoft.com/office/drawing/2014/main" id="{BC0E96CF-1B21-4CF9-95CB-086726BC2F3D}"/>
              </a:ext>
            </a:extLst>
          </p:cNvPr>
          <p:cNvSpPr>
            <a:spLocks noGrp="1"/>
          </p:cNvSpPr>
          <p:nvPr>
            <p:ph idx="1"/>
          </p:nvPr>
        </p:nvSpPr>
        <p:spPr/>
        <p:txBody>
          <a:bodyPr>
            <a:normAutofit/>
          </a:bodyPr>
          <a:lstStyle/>
          <a:p>
            <a:pPr marL="0" indent="0">
              <a:buNone/>
            </a:pPr>
            <a:r>
              <a:rPr lang="ms-MY" dirty="0"/>
              <a:t>Pasal 27 ayat 1 UU ITE berbunyi :</a:t>
            </a:r>
            <a:endParaRPr lang="en-ID" dirty="0"/>
          </a:p>
          <a:p>
            <a:pPr marL="0" indent="0">
              <a:buNone/>
            </a:pPr>
            <a:r>
              <a:rPr lang="ms-MY" dirty="0"/>
              <a:t>“Setiap orang dengan sengaja dan tanpa hak mendistribusikan dan/atau mentransmisikan dan/atau membuat dapat diaksesnya Informasi Elektronik dan/atau Dokumen Elektronik yang memiliki muatan yang melanggar kesusilaan”</a:t>
            </a:r>
            <a:endParaRPr lang="en-ID" dirty="0"/>
          </a:p>
          <a:p>
            <a:pPr marL="0" indent="0">
              <a:buNone/>
            </a:pPr>
            <a:r>
              <a:rPr lang="ms-MY" dirty="0"/>
              <a:t>Pertama, pihak yang memproduksi dan yang menerima serta yang mengakses tidak terdapat aturannya.</a:t>
            </a:r>
            <a:endParaRPr lang="en-ID" dirty="0"/>
          </a:p>
          <a:p>
            <a:pPr marL="0" indent="0">
              <a:buNone/>
            </a:pPr>
            <a:r>
              <a:rPr lang="ms-MY" dirty="0"/>
              <a:t>Kedua, definisi kesusilaannya belum ada penjelasan batasannya.</a:t>
            </a:r>
            <a:endParaRPr lang="en-ID" dirty="0"/>
          </a:p>
          <a:p>
            <a:pPr marL="0" indent="0">
              <a:buNone/>
            </a:pPr>
            <a:r>
              <a:rPr lang="ms-MY" dirty="0"/>
              <a:t> </a:t>
            </a:r>
          </a:p>
          <a:p>
            <a:pPr marL="0" indent="0">
              <a:buNone/>
            </a:pPr>
            <a:endParaRPr lang="en-ID" dirty="0"/>
          </a:p>
          <a:p>
            <a:pPr marL="0" indent="0">
              <a:buNone/>
            </a:pPr>
            <a:endParaRPr lang="en-ID" dirty="0"/>
          </a:p>
        </p:txBody>
      </p:sp>
    </p:spTree>
    <p:extLst>
      <p:ext uri="{BB962C8B-B14F-4D97-AF65-F5344CB8AC3E}">
        <p14:creationId xmlns:p14="http://schemas.microsoft.com/office/powerpoint/2010/main" val="345556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9DC4-8752-4964-B754-697AAD543FB6}"/>
              </a:ext>
            </a:extLst>
          </p:cNvPr>
          <p:cNvSpPr>
            <a:spLocks noGrp="1"/>
          </p:cNvSpPr>
          <p:nvPr>
            <p:ph type="title"/>
          </p:nvPr>
        </p:nvSpPr>
        <p:spPr/>
        <p:txBody>
          <a:bodyPr>
            <a:normAutofit fontScale="90000"/>
          </a:bodyPr>
          <a:lstStyle/>
          <a:p>
            <a:pPr algn="ctr"/>
            <a:br>
              <a:rPr lang="en-US" dirty="0"/>
            </a:br>
            <a:br>
              <a:rPr lang="en-US" dirty="0"/>
            </a:br>
            <a:r>
              <a:rPr lang="ms-MY" b="1" dirty="0"/>
              <a:t>Pasal</a:t>
            </a:r>
            <a:r>
              <a:rPr lang="ms-MY" dirty="0"/>
              <a:t> </a:t>
            </a:r>
            <a:r>
              <a:rPr lang="ms-MY" b="1" dirty="0"/>
              <a:t>perjudian</a:t>
            </a:r>
            <a:r>
              <a:rPr lang="ms-MY" dirty="0"/>
              <a:t> </a:t>
            </a:r>
            <a:r>
              <a:rPr lang="ms-MY" b="1" dirty="0"/>
              <a:t>di</a:t>
            </a:r>
            <a:r>
              <a:rPr lang="ms-MY" dirty="0"/>
              <a:t> </a:t>
            </a:r>
            <a:r>
              <a:rPr lang="ms-MY" b="1" dirty="0"/>
              <a:t>internet</a:t>
            </a:r>
            <a:r>
              <a:rPr lang="ms-MY" dirty="0"/>
              <a:t> </a:t>
            </a:r>
            <a:r>
              <a:rPr lang="ms-MY" b="1" dirty="0"/>
              <a:t>(Gambling</a:t>
            </a:r>
            <a:r>
              <a:rPr lang="ms-MY" dirty="0"/>
              <a:t> </a:t>
            </a:r>
            <a:r>
              <a:rPr lang="ms-MY" b="1" dirty="0"/>
              <a:t>on</a:t>
            </a:r>
            <a:r>
              <a:rPr lang="ms-MY" dirty="0"/>
              <a:t> </a:t>
            </a:r>
            <a:r>
              <a:rPr lang="ms-MY" b="1" dirty="0"/>
              <a:t>line)</a:t>
            </a:r>
            <a:br>
              <a:rPr lang="en-ID" b="1" dirty="0"/>
            </a:br>
            <a:endParaRPr lang="en-ID" dirty="0"/>
          </a:p>
        </p:txBody>
      </p:sp>
      <p:sp>
        <p:nvSpPr>
          <p:cNvPr id="3" name="Content Placeholder 2">
            <a:extLst>
              <a:ext uri="{FF2B5EF4-FFF2-40B4-BE49-F238E27FC236}">
                <a16:creationId xmlns:a16="http://schemas.microsoft.com/office/drawing/2014/main" id="{8FD23CFC-CB64-4D17-A1E5-8C93598F7CB9}"/>
              </a:ext>
            </a:extLst>
          </p:cNvPr>
          <p:cNvSpPr>
            <a:spLocks noGrp="1"/>
          </p:cNvSpPr>
          <p:nvPr>
            <p:ph idx="1"/>
          </p:nvPr>
        </p:nvSpPr>
        <p:spPr/>
        <p:txBody>
          <a:bodyPr>
            <a:normAutofit/>
          </a:bodyPr>
          <a:lstStyle/>
          <a:p>
            <a:pPr marL="0" indent="0">
              <a:buNone/>
            </a:pPr>
            <a:r>
              <a:rPr lang="ms-MY" dirty="0"/>
              <a:t>Dalam pasal 27 ayat 2 UU ITE berbunyi :</a:t>
            </a:r>
            <a:endParaRPr lang="en-ID" dirty="0"/>
          </a:p>
          <a:p>
            <a:pPr marL="0" indent="0">
              <a:buNone/>
            </a:pPr>
            <a:r>
              <a:rPr lang="ms-MY" dirty="0"/>
              <a:t>“Setiap orang dengan sengaja dan tanpa hak mendistribusikan dan/atau</a:t>
            </a:r>
            <a:br>
              <a:rPr lang="ms-MY" dirty="0"/>
            </a:br>
            <a:r>
              <a:rPr lang="ms-MY" dirty="0"/>
              <a:t> mentransmisikan dan/atau membuat dapat diaksesnya informasi elektronik dan/atau dokumen elektronik yang memiliki muatan perjudian”</a:t>
            </a:r>
          </a:p>
          <a:p>
            <a:pPr marL="0" indent="0">
              <a:buNone/>
            </a:pPr>
            <a:r>
              <a:rPr lang="ms-MY" dirty="0"/>
              <a:t>Bagi pihak-pihak yang tidak disebutkan dalam teks pasal tersebut, akan tetapi terlibat dalam acara perjudian di internet misalnya : para penjudi tidak dikenakan pidana.</a:t>
            </a:r>
            <a:endParaRPr lang="en-ID" dirty="0"/>
          </a:p>
          <a:p>
            <a:pPr marL="0" indent="0">
              <a:buNone/>
            </a:pPr>
            <a:endParaRPr lang="en-ID" dirty="0"/>
          </a:p>
        </p:txBody>
      </p:sp>
    </p:spTree>
    <p:extLst>
      <p:ext uri="{BB962C8B-B14F-4D97-AF65-F5344CB8AC3E}">
        <p14:creationId xmlns:p14="http://schemas.microsoft.com/office/powerpoint/2010/main" val="1653457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B50E-35C5-494A-A3DB-AC664692F23A}"/>
              </a:ext>
            </a:extLst>
          </p:cNvPr>
          <p:cNvSpPr>
            <a:spLocks noGrp="1"/>
          </p:cNvSpPr>
          <p:nvPr>
            <p:ph type="title"/>
          </p:nvPr>
        </p:nvSpPr>
        <p:spPr/>
        <p:txBody>
          <a:bodyPr>
            <a:normAutofit fontScale="90000"/>
          </a:bodyPr>
          <a:lstStyle/>
          <a:p>
            <a:pPr algn="ctr"/>
            <a:br>
              <a:rPr lang="en-US" dirty="0"/>
            </a:br>
            <a:br>
              <a:rPr lang="en-US" dirty="0"/>
            </a:br>
            <a:r>
              <a:rPr lang="ms-MY" sz="3100" b="1" dirty="0"/>
              <a:t>Pasal</a:t>
            </a:r>
            <a:r>
              <a:rPr lang="ms-MY" sz="3100" dirty="0"/>
              <a:t> </a:t>
            </a:r>
            <a:r>
              <a:rPr lang="ms-MY" sz="3100" b="1" dirty="0"/>
              <a:t>penghinaan</a:t>
            </a:r>
            <a:r>
              <a:rPr lang="ms-MY" sz="3100" dirty="0"/>
              <a:t> </a:t>
            </a:r>
            <a:r>
              <a:rPr lang="ms-MY" sz="3100" b="1" dirty="0"/>
              <a:t>dan</a:t>
            </a:r>
            <a:r>
              <a:rPr lang="ms-MY" sz="3100" dirty="0"/>
              <a:t> </a:t>
            </a:r>
            <a:r>
              <a:rPr lang="ms-MY" sz="3100" b="1" dirty="0"/>
              <a:t>atau</a:t>
            </a:r>
            <a:r>
              <a:rPr lang="ms-MY" sz="3100" dirty="0"/>
              <a:t> </a:t>
            </a:r>
            <a:r>
              <a:rPr lang="ms-MY" sz="3100" b="1" dirty="0"/>
              <a:t>Pencemaran</a:t>
            </a:r>
            <a:r>
              <a:rPr lang="ms-MY" sz="3100" dirty="0"/>
              <a:t> </a:t>
            </a:r>
            <a:r>
              <a:rPr lang="ms-MY" sz="3100" b="1" dirty="0"/>
              <a:t>nama</a:t>
            </a:r>
            <a:r>
              <a:rPr lang="ms-MY" sz="3100" dirty="0"/>
              <a:t> </a:t>
            </a:r>
            <a:r>
              <a:rPr lang="ms-MY" sz="3100" b="1" dirty="0"/>
              <a:t>baik</a:t>
            </a:r>
            <a:r>
              <a:rPr lang="ms-MY" sz="3100" dirty="0"/>
              <a:t> </a:t>
            </a:r>
            <a:r>
              <a:rPr lang="ms-MY" sz="3100" b="1" dirty="0"/>
              <a:t>di</a:t>
            </a:r>
            <a:r>
              <a:rPr lang="ms-MY" sz="3100" dirty="0"/>
              <a:t> </a:t>
            </a:r>
            <a:r>
              <a:rPr lang="ms-MY" sz="3100" b="1" dirty="0"/>
              <a:t>internet</a:t>
            </a:r>
            <a:br>
              <a:rPr lang="en-ID" b="1" dirty="0"/>
            </a:br>
            <a:endParaRPr lang="en-ID" dirty="0"/>
          </a:p>
        </p:txBody>
      </p:sp>
      <p:sp>
        <p:nvSpPr>
          <p:cNvPr id="3" name="Content Placeholder 2">
            <a:extLst>
              <a:ext uri="{FF2B5EF4-FFF2-40B4-BE49-F238E27FC236}">
                <a16:creationId xmlns:a16="http://schemas.microsoft.com/office/drawing/2014/main" id="{1C86A88D-D0A5-4137-92A2-0DCBCA078C9B}"/>
              </a:ext>
            </a:extLst>
          </p:cNvPr>
          <p:cNvSpPr>
            <a:spLocks noGrp="1"/>
          </p:cNvSpPr>
          <p:nvPr>
            <p:ph idx="1"/>
          </p:nvPr>
        </p:nvSpPr>
        <p:spPr/>
        <p:txBody>
          <a:bodyPr/>
          <a:lstStyle/>
          <a:p>
            <a:pPr marL="0" indent="0">
              <a:buNone/>
            </a:pPr>
            <a:r>
              <a:rPr lang="ms-MY" dirty="0"/>
              <a:t>Pasal 27 ayat 3 UU ITE, berbunyi :</a:t>
            </a:r>
            <a:endParaRPr lang="en-ID" dirty="0"/>
          </a:p>
          <a:p>
            <a:pPr marL="0" indent="0">
              <a:buNone/>
            </a:pPr>
            <a:endParaRPr lang="en-ID" dirty="0"/>
          </a:p>
          <a:p>
            <a:pPr marL="0" indent="0">
              <a:buNone/>
            </a:pPr>
            <a:r>
              <a:rPr lang="ms-MY" dirty="0"/>
              <a:t>“Setiap orang dengan sengaja dan tanpa hak mendistribusikan dan /atau mentransmisikan dan/atau membuat dapat diaksesnya Informasi Elektronik dan/atau Dokumen Elektronik yang memiliki muatan penghinaan dan/atau pencemaran nama baik”</a:t>
            </a:r>
          </a:p>
          <a:p>
            <a:pPr marL="0" indent="0">
              <a:buNone/>
            </a:pPr>
            <a:endParaRPr lang="en-ID" dirty="0"/>
          </a:p>
          <a:p>
            <a:pPr marL="0" indent="0">
              <a:buNone/>
            </a:pPr>
            <a:r>
              <a:rPr lang="ms-MY" dirty="0"/>
              <a:t>Pembuktian terhadap pasal tersebut harus benar-benar dengan hati-hati karena dapat dimanfaatkan bagi oknum yang arogan.</a:t>
            </a:r>
            <a:endParaRPr lang="en-ID" dirty="0"/>
          </a:p>
          <a:p>
            <a:pPr marL="0" indent="0">
              <a:buNone/>
            </a:pPr>
            <a:endParaRPr lang="en-ID" dirty="0"/>
          </a:p>
        </p:txBody>
      </p:sp>
    </p:spTree>
    <p:extLst>
      <p:ext uri="{BB962C8B-B14F-4D97-AF65-F5344CB8AC3E}">
        <p14:creationId xmlns:p14="http://schemas.microsoft.com/office/powerpoint/2010/main" val="607340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35882-2066-4887-9762-CD18B36EA344}"/>
              </a:ext>
            </a:extLst>
          </p:cNvPr>
          <p:cNvSpPr>
            <a:spLocks noGrp="1"/>
          </p:cNvSpPr>
          <p:nvPr>
            <p:ph type="title"/>
          </p:nvPr>
        </p:nvSpPr>
        <p:spPr/>
        <p:txBody>
          <a:bodyPr>
            <a:normAutofit fontScale="90000"/>
          </a:bodyPr>
          <a:lstStyle/>
          <a:p>
            <a:pPr algn="ctr"/>
            <a:br>
              <a:rPr lang="ms-MY" b="1" dirty="0"/>
            </a:br>
            <a:br>
              <a:rPr lang="ms-MY" b="1" dirty="0"/>
            </a:br>
            <a:br>
              <a:rPr lang="ms-MY" b="1" dirty="0"/>
            </a:br>
            <a:r>
              <a:rPr lang="ms-MY" b="1" dirty="0"/>
              <a:t>Pasal</a:t>
            </a:r>
            <a:r>
              <a:rPr lang="ms-MY" dirty="0"/>
              <a:t> </a:t>
            </a:r>
            <a:r>
              <a:rPr lang="ms-MY" b="1" dirty="0"/>
              <a:t>pemerasan</a:t>
            </a:r>
            <a:r>
              <a:rPr lang="ms-MY" dirty="0"/>
              <a:t> </a:t>
            </a:r>
            <a:r>
              <a:rPr lang="ms-MY" b="1" dirty="0"/>
              <a:t>dan</a:t>
            </a:r>
            <a:r>
              <a:rPr lang="ms-MY" dirty="0"/>
              <a:t> </a:t>
            </a:r>
            <a:r>
              <a:rPr lang="ms-MY" b="1" dirty="0"/>
              <a:t>atau</a:t>
            </a:r>
            <a:r>
              <a:rPr lang="ms-MY" dirty="0"/>
              <a:t> </a:t>
            </a:r>
            <a:r>
              <a:rPr lang="ms-MY" b="1" dirty="0"/>
              <a:t>pengancaman</a:t>
            </a:r>
            <a:r>
              <a:rPr lang="ms-MY" dirty="0"/>
              <a:t> </a:t>
            </a:r>
            <a:r>
              <a:rPr lang="ms-MY" b="1" dirty="0"/>
              <a:t>melalui</a:t>
            </a:r>
            <a:r>
              <a:rPr lang="ms-MY" dirty="0"/>
              <a:t> </a:t>
            </a:r>
            <a:r>
              <a:rPr lang="ms-MY" b="1" dirty="0"/>
              <a:t>internet</a:t>
            </a:r>
            <a:br>
              <a:rPr lang="en-ID" b="1" dirty="0"/>
            </a:br>
            <a:br>
              <a:rPr lang="en-US" dirty="0"/>
            </a:br>
            <a:endParaRPr lang="en-ID" dirty="0"/>
          </a:p>
        </p:txBody>
      </p:sp>
      <p:sp>
        <p:nvSpPr>
          <p:cNvPr id="3" name="Content Placeholder 2">
            <a:extLst>
              <a:ext uri="{FF2B5EF4-FFF2-40B4-BE49-F238E27FC236}">
                <a16:creationId xmlns:a16="http://schemas.microsoft.com/office/drawing/2014/main" id="{D28BEA97-62A8-48EE-B9D6-99CF4A9CF1D3}"/>
              </a:ext>
            </a:extLst>
          </p:cNvPr>
          <p:cNvSpPr>
            <a:spLocks noGrp="1"/>
          </p:cNvSpPr>
          <p:nvPr>
            <p:ph idx="1"/>
          </p:nvPr>
        </p:nvSpPr>
        <p:spPr/>
        <p:txBody>
          <a:bodyPr/>
          <a:lstStyle/>
          <a:p>
            <a:pPr marL="0" indent="0">
              <a:buNone/>
            </a:pPr>
            <a:r>
              <a:rPr lang="ms-MY" dirty="0"/>
              <a:t>Pasal 27 ayat 4 UU ITE, berbunyi :</a:t>
            </a:r>
            <a:endParaRPr lang="en-ID" dirty="0"/>
          </a:p>
          <a:p>
            <a:pPr marL="0" indent="0">
              <a:buNone/>
            </a:pPr>
            <a:endParaRPr lang="en-ID" dirty="0"/>
          </a:p>
          <a:p>
            <a:pPr marL="0" indent="0">
              <a:buNone/>
            </a:pPr>
            <a:r>
              <a:rPr lang="ms-MY" dirty="0"/>
              <a:t>“Setiap orang dengan sengaja dan tanpa hak mendistribusikan dan/atau mentransmisikan dan/atau membuat dapat diaksesnya Informasi Elektronik dan/atau Dokumen Elektronik yang memiliki muatan pemerasan dan/atau pengancaman”.</a:t>
            </a:r>
          </a:p>
          <a:p>
            <a:pPr marL="0" indent="0">
              <a:buNone/>
            </a:pPr>
            <a:endParaRPr lang="en-ID" dirty="0"/>
          </a:p>
          <a:p>
            <a:pPr marL="0" indent="0">
              <a:buNone/>
            </a:pPr>
            <a:r>
              <a:rPr lang="ms-MY" dirty="0"/>
              <a:t>UU   ITE  tidak/atau  belum mengatur  mengenai	cyber terorisme   yang  ditujukan ke lembaga   atau bukan perorangan.</a:t>
            </a:r>
            <a:endParaRPr lang="en-ID" dirty="0"/>
          </a:p>
          <a:p>
            <a:pPr marL="0" indent="0">
              <a:buNone/>
            </a:pPr>
            <a:endParaRPr lang="en-ID" dirty="0"/>
          </a:p>
        </p:txBody>
      </p:sp>
    </p:spTree>
    <p:extLst>
      <p:ext uri="{BB962C8B-B14F-4D97-AF65-F5344CB8AC3E}">
        <p14:creationId xmlns:p14="http://schemas.microsoft.com/office/powerpoint/2010/main" val="2108065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1146-2796-4722-9202-BA4362340449}"/>
              </a:ext>
            </a:extLst>
          </p:cNvPr>
          <p:cNvSpPr>
            <a:spLocks noGrp="1"/>
          </p:cNvSpPr>
          <p:nvPr>
            <p:ph type="title"/>
          </p:nvPr>
        </p:nvSpPr>
        <p:spPr/>
        <p:txBody>
          <a:bodyPr>
            <a:normAutofit fontScale="90000"/>
          </a:bodyPr>
          <a:lstStyle/>
          <a:p>
            <a:pPr algn="ctr"/>
            <a:br>
              <a:rPr lang="en-US" dirty="0"/>
            </a:br>
            <a:r>
              <a:rPr lang="ms-MY" b="1" dirty="0"/>
              <a:t>Penyebaran</a:t>
            </a:r>
            <a:r>
              <a:rPr lang="ms-MY" dirty="0"/>
              <a:t> </a:t>
            </a:r>
            <a:r>
              <a:rPr lang="ms-MY" b="1" dirty="0"/>
              <a:t>berita</a:t>
            </a:r>
            <a:r>
              <a:rPr lang="ms-MY" dirty="0"/>
              <a:t> </a:t>
            </a:r>
            <a:r>
              <a:rPr lang="ms-MY" b="1" dirty="0"/>
              <a:t>bohong</a:t>
            </a:r>
            <a:r>
              <a:rPr lang="ms-MY" dirty="0"/>
              <a:t> </a:t>
            </a:r>
            <a:r>
              <a:rPr lang="ms-MY" b="1" dirty="0"/>
              <a:t>dan</a:t>
            </a:r>
            <a:r>
              <a:rPr lang="ms-MY" dirty="0"/>
              <a:t> </a:t>
            </a:r>
            <a:r>
              <a:rPr lang="ms-MY" b="1" dirty="0"/>
              <a:t>penghasutan</a:t>
            </a:r>
            <a:r>
              <a:rPr lang="ms-MY" dirty="0"/>
              <a:t> </a:t>
            </a:r>
            <a:r>
              <a:rPr lang="ms-MY" b="1" dirty="0"/>
              <a:t>melalui</a:t>
            </a:r>
            <a:r>
              <a:rPr lang="ms-MY" dirty="0"/>
              <a:t> </a:t>
            </a:r>
            <a:r>
              <a:rPr lang="ms-MY" b="1" dirty="0"/>
              <a:t>internet</a:t>
            </a:r>
            <a:br>
              <a:rPr lang="en-ID" b="1" dirty="0"/>
            </a:br>
            <a:endParaRPr lang="en-ID" dirty="0"/>
          </a:p>
        </p:txBody>
      </p:sp>
      <p:sp>
        <p:nvSpPr>
          <p:cNvPr id="3" name="Content Placeholder 2">
            <a:extLst>
              <a:ext uri="{FF2B5EF4-FFF2-40B4-BE49-F238E27FC236}">
                <a16:creationId xmlns:a16="http://schemas.microsoft.com/office/drawing/2014/main" id="{0928A3A1-42AC-4218-915C-4AA85B21743B}"/>
              </a:ext>
            </a:extLst>
          </p:cNvPr>
          <p:cNvSpPr>
            <a:spLocks noGrp="1"/>
          </p:cNvSpPr>
          <p:nvPr>
            <p:ph idx="1"/>
          </p:nvPr>
        </p:nvSpPr>
        <p:spPr/>
        <p:txBody>
          <a:bodyPr/>
          <a:lstStyle/>
          <a:p>
            <a:pPr marL="0" indent="0">
              <a:buNone/>
            </a:pPr>
            <a:r>
              <a:rPr lang="ms-MY" dirty="0"/>
              <a:t>Pasal 28 Ayat 1 berbunyi :</a:t>
            </a:r>
            <a:endParaRPr lang="en-ID" dirty="0"/>
          </a:p>
          <a:p>
            <a:pPr marL="0" indent="0">
              <a:buNone/>
            </a:pPr>
            <a:endParaRPr lang="en-ID" dirty="0"/>
          </a:p>
          <a:p>
            <a:pPr marL="0" indent="0">
              <a:buNone/>
            </a:pPr>
            <a:r>
              <a:rPr lang="ms-MY" dirty="0"/>
              <a:t>“Setiap orang dengan sengaja dan tanpa hak menyebarkan berita bohong dan menyesatkan yang mengakibatkan kerugian konsumen dalam Transaksi Elektronik”.</a:t>
            </a:r>
          </a:p>
          <a:p>
            <a:pPr marL="0" indent="0">
              <a:buNone/>
            </a:pPr>
            <a:endParaRPr lang="en-ID" dirty="0"/>
          </a:p>
          <a:p>
            <a:pPr marL="0" indent="0">
              <a:buNone/>
            </a:pPr>
            <a:r>
              <a:rPr lang="ms-MY" dirty="0"/>
              <a:t>Pihak yang menjadi korban adalah konsumen dan pelakunya produsen, sementara dilain pihak bisa jadi yang menjadi korban sebaliknya.</a:t>
            </a:r>
            <a:endParaRPr lang="en-ID" dirty="0"/>
          </a:p>
          <a:p>
            <a:pPr marL="0" indent="0">
              <a:buNone/>
            </a:pPr>
            <a:endParaRPr lang="en-ID" dirty="0"/>
          </a:p>
        </p:txBody>
      </p:sp>
    </p:spTree>
    <p:extLst>
      <p:ext uri="{BB962C8B-B14F-4D97-AF65-F5344CB8AC3E}">
        <p14:creationId xmlns:p14="http://schemas.microsoft.com/office/powerpoint/2010/main" val="303041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EF45-220F-423A-8D5D-8E5078B26E14}"/>
              </a:ext>
            </a:extLst>
          </p:cNvPr>
          <p:cNvSpPr>
            <a:spLocks noGrp="1"/>
          </p:cNvSpPr>
          <p:nvPr>
            <p:ph type="title"/>
          </p:nvPr>
        </p:nvSpPr>
        <p:spPr/>
        <p:txBody>
          <a:bodyPr>
            <a:normAutofit fontScale="90000"/>
          </a:bodyPr>
          <a:lstStyle/>
          <a:p>
            <a:pPr algn="ctr"/>
            <a:br>
              <a:rPr lang="en-US" dirty="0"/>
            </a:br>
            <a:br>
              <a:rPr lang="en-US" dirty="0"/>
            </a:br>
            <a:r>
              <a:rPr lang="ms-MY" b="1" dirty="0"/>
              <a:t>Profokasi</a:t>
            </a:r>
            <a:r>
              <a:rPr lang="ms-MY" dirty="0"/>
              <a:t> </a:t>
            </a:r>
            <a:r>
              <a:rPr lang="ms-MY" b="1" dirty="0"/>
              <a:t>melalui</a:t>
            </a:r>
            <a:r>
              <a:rPr lang="ms-MY" dirty="0"/>
              <a:t> </a:t>
            </a:r>
            <a:r>
              <a:rPr lang="ms-MY" b="1" dirty="0"/>
              <a:t>internet</a:t>
            </a:r>
            <a:br>
              <a:rPr lang="en-ID" b="1" dirty="0"/>
            </a:br>
            <a:endParaRPr lang="en-ID" dirty="0"/>
          </a:p>
        </p:txBody>
      </p:sp>
      <p:sp>
        <p:nvSpPr>
          <p:cNvPr id="3" name="Content Placeholder 2">
            <a:extLst>
              <a:ext uri="{FF2B5EF4-FFF2-40B4-BE49-F238E27FC236}">
                <a16:creationId xmlns:a16="http://schemas.microsoft.com/office/drawing/2014/main" id="{89C46C10-E1AA-4A60-AADF-2AD154AD994B}"/>
              </a:ext>
            </a:extLst>
          </p:cNvPr>
          <p:cNvSpPr>
            <a:spLocks noGrp="1"/>
          </p:cNvSpPr>
          <p:nvPr>
            <p:ph idx="1"/>
          </p:nvPr>
        </p:nvSpPr>
        <p:spPr/>
        <p:txBody>
          <a:bodyPr/>
          <a:lstStyle/>
          <a:p>
            <a:r>
              <a:rPr lang="ms-MY" dirty="0"/>
              <a:t>Pasal 28 Ayat 2 yaitu :</a:t>
            </a:r>
            <a:endParaRPr lang="en-ID" dirty="0"/>
          </a:p>
          <a:p>
            <a:pPr marL="0" indent="0">
              <a:buNone/>
            </a:pPr>
            <a:endParaRPr lang="en-ID" dirty="0"/>
          </a:p>
          <a:p>
            <a:pPr marL="0" indent="0">
              <a:buNone/>
            </a:pPr>
            <a:r>
              <a:rPr lang="ms-MY" dirty="0"/>
              <a:t>“Setiap Orang dengan sengaja dan tanpa hak menyebarkan informasi yang ditujukan untuk menimbulkan rasa kebencian atau permusuhan individu dan/atau kelompok masyarakat tertentu berdasarkan atas suku, agama, ras dan antar golongan (</a:t>
            </a:r>
            <a:r>
              <a:rPr lang="ms-MY"/>
              <a:t>SARA).”</a:t>
            </a:r>
          </a:p>
          <a:p>
            <a:pPr marL="0" indent="0">
              <a:buNone/>
            </a:pPr>
            <a:endParaRPr lang="en-ID" dirty="0"/>
          </a:p>
          <a:p>
            <a:pPr marL="0" indent="0">
              <a:buNone/>
            </a:pPr>
            <a:r>
              <a:rPr lang="ms-MY" dirty="0"/>
              <a:t>Dipasal tersebut di sebutkan istilah informasi dan tidak dijelaskan informasi yang seperti apa.</a:t>
            </a:r>
            <a:endParaRPr lang="en-ID" dirty="0"/>
          </a:p>
          <a:p>
            <a:pPr marL="0" indent="0">
              <a:buNone/>
            </a:pPr>
            <a:endParaRPr lang="en-ID" dirty="0"/>
          </a:p>
        </p:txBody>
      </p:sp>
    </p:spTree>
    <p:extLst>
      <p:ext uri="{BB962C8B-B14F-4D97-AF65-F5344CB8AC3E}">
        <p14:creationId xmlns:p14="http://schemas.microsoft.com/office/powerpoint/2010/main" val="1519880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32F9C-3A5A-4C91-960F-8CA46AE2BBA2}"/>
              </a:ext>
            </a:extLst>
          </p:cNvPr>
          <p:cNvSpPr>
            <a:spLocks noGrp="1"/>
          </p:cNvSpPr>
          <p:nvPr>
            <p:ph idx="1"/>
          </p:nvPr>
        </p:nvSpPr>
        <p:spPr/>
        <p:txBody>
          <a:bodyPr>
            <a:normAutofit/>
          </a:bodyPr>
          <a:lstStyle/>
          <a:p>
            <a:pPr marL="0" indent="0" algn="ctr">
              <a:buNone/>
            </a:pPr>
            <a:endParaRPr lang="en-US" sz="8000" dirty="0"/>
          </a:p>
          <a:p>
            <a:pPr marL="0" indent="0" algn="ctr">
              <a:buNone/>
            </a:pPr>
            <a:r>
              <a:rPr lang="en-US" sz="8000" dirty="0"/>
              <a:t>TERIMAKASIH</a:t>
            </a:r>
            <a:endParaRPr lang="en-ID" sz="8000" dirty="0"/>
          </a:p>
        </p:txBody>
      </p:sp>
    </p:spTree>
    <p:extLst>
      <p:ext uri="{BB962C8B-B14F-4D97-AF65-F5344CB8AC3E}">
        <p14:creationId xmlns:p14="http://schemas.microsoft.com/office/powerpoint/2010/main" val="47637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TotalTime>
  <Words>1082</Words>
  <Application>Microsoft Office PowerPoint</Application>
  <PresentationFormat>Widescreen</PresentationFormat>
  <Paragraphs>105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KEBIJAKAN HUKUM CYBERCRIME</vt:lpstr>
      <vt:lpstr>  Cyberlaw</vt:lpstr>
      <vt:lpstr>PowerPoint Presentation</vt:lpstr>
      <vt:lpstr> Ruang Lingkup Cyberlaw</vt:lpstr>
      <vt:lpstr>PowerPoint Presentation</vt:lpstr>
      <vt:lpstr> Pengaturan Cybercrime dalam UU ITE</vt:lpstr>
      <vt:lpstr>  Dua muatan besar yang diatur dalam UU ITE adalah </vt:lpstr>
      <vt:lpstr>PowerPoint Presentation</vt:lpstr>
      <vt:lpstr> Celah Hukum Cybercrime</vt:lpstr>
      <vt:lpstr>  Menurut Suhariyanto (2012) celah hokum kriminalisasi cybercrime yang ada dalam UU ITE, diantaranya: </vt:lpstr>
      <vt:lpstr> Pasal pornografi di internet (cyberporn</vt:lpstr>
      <vt:lpstr>  Pasal perjudian di internet (Gambling on line) </vt:lpstr>
      <vt:lpstr>  Pasal penghinaan dan atau Pencemaran nama baik di internet </vt:lpstr>
      <vt:lpstr>   Pasal pemerasan dan atau pengancaman melalui internet  </vt:lpstr>
      <vt:lpstr> Penyebaran berita bohong dan penghasutan melalui internet </vt:lpstr>
      <vt:lpstr>  Profokasi melalui internet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Studi Bisnis Digital</dc:title>
  <dc:creator>USER</dc:creator>
  <cp:lastModifiedBy>USER</cp:lastModifiedBy>
  <cp:revision>16</cp:revision>
  <dcterms:created xsi:type="dcterms:W3CDTF">2025-09-10T04:04:16Z</dcterms:created>
  <dcterms:modified xsi:type="dcterms:W3CDTF">2025-10-20T06:48:46Z</dcterms:modified>
</cp:coreProperties>
</file>